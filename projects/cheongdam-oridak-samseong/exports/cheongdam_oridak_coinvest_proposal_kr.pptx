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비용 (만원)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630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식자재비 35.0%</c:v>
                  </c:pt>
                  <c:pt idx="1">
                    <c:v>인건비(4대보험 포함) 25.3%</c:v>
                  </c:pt>
                  <c:pt idx="2">
                    <c:v>임대료+관리비 9.7%</c:v>
                  </c:pt>
                  <c:pt idx="3">
                    <c:v>공과금 3.0%</c:v>
                  </c:pt>
                  <c:pt idx="4">
                    <c:v>마케팅 3.0%</c:v>
                  </c:pt>
                  <c:pt idx="5">
                    <c:v>카드수수료 2.0%</c:v>
                  </c:pt>
                  <c:pt idx="6">
                    <c:v>소모품·기타 2.0%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10500</c:v>
                </c:pt>
                <c:pt idx="1">
                  <c:v>7600</c:v>
                </c:pt>
                <c:pt idx="2">
                  <c:v>2900</c:v>
                </c:pt>
                <c:pt idx="3">
                  <c:v>900</c:v>
                </c:pt>
                <c:pt idx="4">
                  <c:v>900</c:v>
                </c:pt>
                <c:pt idx="5">
                  <c:v>600</c:v>
                </c:pt>
                <c:pt idx="6">
                  <c:v>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3630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63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영업이익 (만원)</c:v>
                </c:pt>
              </c:strCache>
            </c:strRef>
          </c:tx>
          <c:spPr>
            <a:solidFill>
              <a:srgbClr val="B8AE94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414"/>
                    </a:solidFill>
                    <a:latin typeface="Pretendard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AE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C56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안정안 · 월 2.25억</c:v>
                  </c:pt>
                  <c:pt idx="1">
                    <c:v>기준안 · 월 3.00억</c:v>
                  </c:pt>
                  <c:pt idx="2">
                    <c:v>확장안 · 월 4.00억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1817</c:v>
                </c:pt>
                <c:pt idx="1">
                  <c:v>5417</c:v>
                </c:pt>
                <c:pt idx="2">
                  <c:v>10217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1414"/>
                  </a:solidFill>
                  <a:latin typeface="Pretendard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63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cover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deck_assets/cover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42245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600" kern="0" dirty="0">
                <a:solidFill>
                  <a:srgbClr val="E3C56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공동투자 제안서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621792" y="4553712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청담 오리닭 삼성동점</a:t>
            </a:r>
            <a:endParaRPr lang="en-US" sz="4700" dirty="0"/>
          </a:p>
        </p:txBody>
      </p:sp>
      <p:sp>
        <p:nvSpPr>
          <p:cNvPr id="6" name="Text 2"/>
          <p:cNvSpPr/>
          <p:nvPr/>
        </p:nvSpPr>
        <p:spPr>
          <a:xfrm>
            <a:off x="658368" y="5596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B4AC99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청담오리닭 · CHUNGDAM ORI DAK · CHEONGDAM ORIDAK · FIRE ROAST DUCK &amp; CHICKEN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658368" y="5998464"/>
            <a:ext cx="10872216" cy="0"/>
          </a:xfrm>
          <a:prstGeom prst="line">
            <a:avLst/>
          </a:prstGeom>
          <a:noFill/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8368" y="610819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E7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포스코센터 인근 대로변  ·  B1~3F 통임대 136평  ·  2026년 10월 오픈 예정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01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제안 요약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7.5억 규모 신규 출점, 기준안 월 영업이익 5,400만원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872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삼성동 포스코센터 인근 대로변 지하 1층~지상 3층 통임대 136평. 지하를 주방으로 설계하고 더미웨이터로 3개 층을 전부 영업면적으로 전환하는 구조다. 총 자금 소요 7.5억, 운영 가치 포함 기업가치 10억 기준으로 지분 참여를 제안한다.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2512314" cy="1965960"/>
          </a:xfrm>
          <a:prstGeom prst="roundRect">
            <a:avLst>
              <a:gd name="adj" fmla="val 3256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688336"/>
            <a:ext cx="20551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10</a:t>
            </a:r>
            <a:pPr indent="0" marL="0">
              <a:buNone/>
            </a:pPr>
            <a:r>
              <a:rPr lang="en-US" sz="15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억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96112" y="3328416"/>
            <a:ext cx="205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제안 기업가치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3602736"/>
            <a:ext cx="20551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1억 = 지분 10%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45002" y="2487168"/>
            <a:ext cx="2512314" cy="1965960"/>
          </a:xfrm>
          <a:prstGeom prst="roundRect">
            <a:avLst>
              <a:gd name="adj" fmla="val 3256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82746" y="2688336"/>
            <a:ext cx="20551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월 3</a:t>
            </a:r>
            <a:pPr indent="0" marL="0">
              <a:buNone/>
            </a:pPr>
            <a:r>
              <a:rPr lang="en-US" sz="15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억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82746" y="3328416"/>
            <a:ext cx="205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기준안 목표 매출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82746" y="3602736"/>
            <a:ext cx="20551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180석 · 일 1.3회전 기준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1636" y="2487168"/>
            <a:ext cx="2512314" cy="1965960"/>
          </a:xfrm>
          <a:prstGeom prst="roundRect">
            <a:avLst>
              <a:gd name="adj" fmla="val 3256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9380" y="2688336"/>
            <a:ext cx="20551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20.0</a:t>
            </a:r>
            <a:pPr indent="0" marL="0">
              <a:buNone/>
            </a:pPr>
            <a:r>
              <a:rPr lang="en-US" sz="15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69380" y="3328416"/>
            <a:ext cx="205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기준안 EBITDA율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69380" y="3602736"/>
            <a:ext cx="20551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감가상각 후 18.1%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18270" y="2487168"/>
            <a:ext cx="2512314" cy="1965960"/>
          </a:xfrm>
          <a:prstGeom prst="roundRect">
            <a:avLst>
              <a:gd name="adj" fmla="val 3256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56014" y="2688336"/>
            <a:ext cx="20551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1.87</a:t>
            </a:r>
            <a:pPr indent="0" marL="0">
              <a:buNone/>
            </a:pPr>
            <a:r>
              <a:rPr lang="en-US" sz="15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억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56014" y="3328416"/>
            <a:ext cx="205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손익분기 월매출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56014" y="3602736"/>
            <a:ext cx="20551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대비 62% 수준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4846320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매출·손익은 좌석수와 객단가 가정에 기반한 추정치이며, 확정 실적이 아니다.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02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입지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포스코센터 인근 대로변, 강남권 최대 밀도의 법인 회식 상권</a:t>
            </a:r>
            <a:endParaRPr lang="en-US" sz="2500" dirty="0"/>
          </a:p>
        </p:txBody>
      </p:sp>
      <p:pic>
        <p:nvPicPr>
          <p:cNvPr id="4" name="Image 0" descr="deck_assets/terr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627632"/>
            <a:ext cx="4480560" cy="33649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59168" y="50657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테라스 다이닝. 대로변에 면한 통유리 구조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58368" y="1627632"/>
            <a:ext cx="2898648" cy="1481328"/>
          </a:xfrm>
          <a:prstGeom prst="roundRect">
            <a:avLst>
              <a:gd name="adj" fmla="val 4321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77824" y="1792224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" y="2121408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포스코센터 · 무역센터 · 코엑스 오피스 밀집. 평일 저녁 법인 회식과 접대 수요가 상시 발생하는 구간이다.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94760" y="1627632"/>
            <a:ext cx="2898648" cy="1481328"/>
          </a:xfrm>
          <a:prstGeom prst="roundRect">
            <a:avLst>
              <a:gd name="adj" fmla="val 4321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014216" y="1792224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가시성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14216" y="2121408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대로변 전면 노출. 통유리 파사드와 야간 사인으로 별도 광고 없이 인지가 형성된다.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" y="3328416"/>
            <a:ext cx="2898648" cy="1481328"/>
          </a:xfrm>
          <a:prstGeom prst="roundRect">
            <a:avLst>
              <a:gd name="adj" fmla="val 4321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77824" y="3493008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경쟁 구도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77824" y="3822192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삼성동 회식 상권은 한우 · 중식이 주도한다. 오리구이 단일 카테고리는 대체재가 얇다.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794760" y="3328416"/>
            <a:ext cx="2898648" cy="1481328"/>
          </a:xfrm>
          <a:prstGeom prst="roundRect">
            <a:avLst>
              <a:gd name="adj" fmla="val 4321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014216" y="3493008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접근성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014216" y="3822192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진입 동선과 전용 주차 확보. 접대 목적 방문의 이탈 요인을 제거한다.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" y="5138928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24" y="51389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임대 조건</a:t>
            </a:r>
            <a:pPr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월 임대료 2,500만원 / 보증금 3억 / B1~3F 4개 층 통임대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03</a:t>
            </a:r>
            <a:pPr indent="0" marL="0">
              <a:buNone/>
            </a:pPr>
            <a:r>
              <a:rPr lang="en-US" sz="1200" spc="400" kern="0" dirty="0">
                <a:solidFill>
                  <a:srgbClr val="B4AC99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공간 구성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FE7D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지하를 주방으로 내리고, 3개 층 120평을 전부 영업면적으로 쓴다</a:t>
            </a:r>
            <a:endParaRPr lang="en-US" sz="2500" dirty="0"/>
          </a:p>
        </p:txBody>
      </p:sp>
      <p:pic>
        <p:nvPicPr>
          <p:cNvPr id="4" name="Image 0" descr="deck_assets/iso_flo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2" y="1481328"/>
            <a:ext cx="397764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554480"/>
            <a:ext cx="6720840" cy="969264"/>
          </a:xfrm>
          <a:prstGeom prst="roundRect">
            <a:avLst>
              <a:gd name="adj" fmla="val 6604"/>
            </a:avLst>
          </a:prstGeom>
          <a:solidFill>
            <a:srgbClr val="1B1A17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" y="168249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C56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3F · 40평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77824" y="2011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VIP 룸 8~10실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456432" y="1682496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접대 · 법인 예약 전담. 단가와 예약 안정성을 담당하는 층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92824" y="1682496"/>
            <a:ext cx="603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60석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" y="2670048"/>
            <a:ext cx="6720840" cy="969264"/>
          </a:xfrm>
          <a:prstGeom prst="roundRect">
            <a:avLst>
              <a:gd name="adj" fmla="val 6604"/>
            </a:avLst>
          </a:prstGeom>
          <a:solidFill>
            <a:srgbClr val="1B1A17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79806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C56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2F · 40평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7824" y="31272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메인 홀 · 바 / 셀러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456432" y="2798064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홀에 셀러 · 바를 붙여 주류 매출과 객단가를 끌어올린다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92824" y="2798064"/>
            <a:ext cx="603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60석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3785616"/>
            <a:ext cx="6720840" cy="969264"/>
          </a:xfrm>
          <a:prstGeom prst="roundRect">
            <a:avLst>
              <a:gd name="adj" fmla="val 6604"/>
            </a:avLst>
          </a:prstGeom>
          <a:solidFill>
            <a:srgbClr val="1B1A17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9136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C56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1F · 40평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77824" y="42428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테라스 다이닝 · 화로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456432" y="3913632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시그니처 화로 전면 배치. 유입과 브랜드 인지를 담당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592824" y="3913632"/>
            <a:ext cx="603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60석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58368" y="4901184"/>
            <a:ext cx="6720840" cy="969264"/>
          </a:xfrm>
          <a:prstGeom prst="roundRect">
            <a:avLst>
              <a:gd name="adj" fmla="val 6604"/>
            </a:avLst>
          </a:prstGeom>
          <a:solidFill>
            <a:srgbClr val="1B1A17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7824" y="5029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C56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B1 · 16평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77824" y="5358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중앙 주방 · 저장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456432" y="5029200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층 조리 집중. 더미웨이터로 1~3F 서빙 연결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58368" y="60533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전용면적 합계 136평 · 영업 좌석 180석(가정) · 주방을 지하로 분리해 지상 3개 층의 좌석 손실을 없앤다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AC99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03-1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운영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구조의 성패는 더미웨이터 처리량이 결정한다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810512"/>
            <a:ext cx="5298948" cy="1517904"/>
          </a:xfrm>
          <a:prstGeom prst="roundRect">
            <a:avLst>
              <a:gd name="adj" fmla="val 4217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975104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중앙 주방 단일화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7824" y="2304288"/>
            <a:ext cx="48600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16평에 조리를 집중해 층별 주방 중복 투자를 제거한다. 인건비와 설비비가 동시에 줄어든다.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810512"/>
            <a:ext cx="5298948" cy="1517904"/>
          </a:xfrm>
          <a:prstGeom prst="roundRect">
            <a:avLst>
              <a:gd name="adj" fmla="val 4217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1092" y="1975104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더미웨이터 2기 권장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51092" y="2304288"/>
            <a:ext cx="48600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1기 운용 시 피크 타임 3개 층 동시 서빙에서 병목이 발생한다. 설계 단계에서 2기 또는 대용량 1기로 확정해야 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3602736"/>
            <a:ext cx="5298948" cy="1517904"/>
          </a:xfrm>
          <a:prstGeom prst="roundRect">
            <a:avLst>
              <a:gd name="adj" fmla="val 4217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3767328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층별 서비스 스테이션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4096512"/>
            <a:ext cx="48600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층에 반찬 · 주류 · 집기 스테이션을 두어 더미웨이터 호출 횟수를 본요리 중심으로 줄인다.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3602736"/>
            <a:ext cx="5298948" cy="1517904"/>
          </a:xfrm>
          <a:prstGeom prst="roundRect">
            <a:avLst>
              <a:gd name="adj" fmla="val 4217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1092" y="3767328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3층 예약 전용 운영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51092" y="4096512"/>
            <a:ext cx="48600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룸은 예약제로만 열어 상시 인력 배치를 없애고, 예약분에 맞춰 인력을 투입한다.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04</a:t>
            </a:r>
            <a:pPr indent="0" marL="0">
              <a:buNone/>
            </a:pPr>
            <a:r>
              <a:rPr lang="en-US" sz="1200" spc="400" kern="0" dirty="0">
                <a:solidFill>
                  <a:srgbClr val="B4AC99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시그니처 화로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FE7D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1층 화로 시안 — 시그니처 로스터 · 제작 완료</a:t>
            </a:r>
            <a:endParaRPr lang="en-US" sz="2500" dirty="0"/>
          </a:p>
        </p:txBody>
      </p:sp>
      <p:pic>
        <p:nvPicPr>
          <p:cNvPr id="4" name="Image 0" descr="deck_assets/roaster_cl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1691640"/>
            <a:ext cx="3246120" cy="4572000"/>
          </a:xfrm>
          <a:prstGeom prst="rect">
            <a:avLst/>
          </a:prstGeom>
        </p:spPr>
      </p:pic>
      <p:pic>
        <p:nvPicPr>
          <p:cNvPr id="5" name="Image 1" descr="deck_assets/roaster_kios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691640"/>
            <a:ext cx="2834640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35440" y="178308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장작 화덕과 브랜드 오브제를 결합한 시그니처 로스터. 1층 전면에 배치해 유입과 브랜드 인지를 만든다.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AC99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05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메뉴 구성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객단가 5만원대는 메뉴 가격표에서 그대로 나온다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98948" cy="1316736"/>
          </a:xfrm>
          <a:prstGeom prst="roundRect">
            <a:avLst>
              <a:gd name="adj" fmla="val 4861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737360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시그니처 화덕 오리구이 · 79,000~135,000원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2066544"/>
            <a:ext cx="48600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장작 · 참숯 · 불향 · 마라 4종과 예약제 능이 진흙 오리구이. 2인 이상 공유 메뉴로 테이블 단가의 중심을 잡는다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31636" y="1572768"/>
            <a:ext cx="5298948" cy="1316736"/>
          </a:xfrm>
          <a:prstGeom prst="roundRect">
            <a:avLst>
              <a:gd name="adj" fmla="val 4861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1092" y="1737360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화덕 통닭구이 · 38,000~45,000원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1092" y="2066544"/>
            <a:ext cx="48600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오리와 병행 주문되는 서브 메인. 4인 이상 테이블에서 추가 주문이 발생한다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3090672"/>
            <a:ext cx="5298948" cy="1316736"/>
          </a:xfrm>
          <a:prstGeom prst="roundRect">
            <a:avLst>
              <a:gd name="adj" fmla="val 4861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3255264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전골 · 사이드 · 전통주 · 10,000~80,000원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3584448"/>
            <a:ext cx="48600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능이 오리전골 69,000원, 전통주 페어링. 접대 · 룸 수요의 단가를 결정한다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1636" y="3090672"/>
            <a:ext cx="5298948" cy="1316736"/>
          </a:xfrm>
          <a:prstGeom prst="roundRect">
            <a:avLst>
              <a:gd name="adj" fmla="val 4861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1092" y="3255264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점심 단품 · 16,000원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1092" y="3584448"/>
            <a:ext cx="48600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오리곰탕 · 닭곰탕. 데이타임 회전을 확보하기 위한 별도 라인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4663440"/>
            <a:ext cx="2512314" cy="1298448"/>
          </a:xfrm>
          <a:prstGeom prst="roundRect">
            <a:avLst>
              <a:gd name="adj" fmla="val 4930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791456"/>
            <a:ext cx="2109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50,500원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" y="5138928"/>
            <a:ext cx="210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2인 표준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" y="5413248"/>
            <a:ext cx="2109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오리구이 + 사이드 + 소주 2병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45002" y="4663440"/>
            <a:ext cx="2512314" cy="1298448"/>
          </a:xfrm>
          <a:prstGeom prst="roundRect">
            <a:avLst>
              <a:gd name="adj" fmla="val 4930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6170" y="4791456"/>
            <a:ext cx="2109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59,000원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46170" y="5138928"/>
            <a:ext cx="210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4인 회식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46170" y="5413248"/>
            <a:ext cx="2109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오리구이 + 통닭구이 + 전골 + 주류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31636" y="4663440"/>
            <a:ext cx="2512314" cy="1298448"/>
          </a:xfrm>
          <a:prstGeom prst="roundRect">
            <a:avLst>
              <a:gd name="adj" fmla="val 4930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2804" y="4791456"/>
            <a:ext cx="2109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74,000원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32804" y="5138928"/>
            <a:ext cx="210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4인 룸 접대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32804" y="5413248"/>
            <a:ext cx="2109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능이 진흙 오리구이 + 전골 + 전통주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18270" y="4663440"/>
            <a:ext cx="2512314" cy="1298448"/>
          </a:xfrm>
          <a:prstGeom prst="roundRect">
            <a:avLst>
              <a:gd name="adj" fmla="val 4930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9438" y="4791456"/>
            <a:ext cx="21099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16,000원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19438" y="5138928"/>
            <a:ext cx="21099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점심 1인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19438" y="5413248"/>
            <a:ext cx="21099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오리곰탕 · 닭곰탕 단품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" y="6108192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구성안. 가격은 확정 전 시안 기준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06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투자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 자금 소요 7.5억, 운영 가치 포함 기업가치 10억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6537960" cy="804672"/>
          </a:xfrm>
          <a:prstGeom prst="roundRect">
            <a:avLst>
              <a:gd name="adj" fmla="val 7955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보증금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202996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종료 시 회수 가능 자산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737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3.0억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560320"/>
            <a:ext cx="6537960" cy="804672"/>
          </a:xfrm>
          <a:prstGeom prst="roundRect">
            <a:avLst>
              <a:gd name="adj" fmla="val 7955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670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인테리어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296265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층 시공, 지하 급배기 · 소방 포함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70448" y="2670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3.0억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3493008"/>
            <a:ext cx="6537960" cy="804672"/>
          </a:xfrm>
          <a:prstGeom prst="roundRect">
            <a:avLst>
              <a:gd name="adj" fmla="val 7955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602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기물 및 집기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" y="38953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시그니처 로스터(제작 완료), 주방 설비, 더미웨이터, 홀 집기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70448" y="36027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0.5억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4425696"/>
            <a:ext cx="6537960" cy="804672"/>
          </a:xfrm>
          <a:prstGeom prst="roundRect">
            <a:avLst>
              <a:gd name="adj" fmla="val 7955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5354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예비비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" y="482803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공기 지연 및 초기 운전자금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70448" y="45354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1.0억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" y="5394960"/>
            <a:ext cx="6537960" cy="603504"/>
          </a:xfrm>
          <a:prstGeom prst="roundRect">
            <a:avLst>
              <a:gd name="adj" fmla="val 10606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53949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현금 소요 합계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87568" y="539496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E3C56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7.5억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80376" y="1627632"/>
            <a:ext cx="3950208" cy="2377440"/>
          </a:xfrm>
          <a:prstGeom prst="roundRect">
            <a:avLst>
              <a:gd name="adj" fmla="val 2692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18120" y="182880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운영 가치 2.5억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18120" y="22860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브랜드, 상권 확보, 인허가와 시공 관리, 다점포 운영 조직. 현금 소요 7.5억에 더해 기업가치 10억을 구성한다.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0376" y="4224528"/>
            <a:ext cx="3950208" cy="1737360"/>
          </a:xfrm>
          <a:prstGeom prst="roundRect">
            <a:avLst>
              <a:gd name="adj" fmla="val 3684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4370832"/>
            <a:ext cx="3493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현금 소요 7.5억
</a:t>
            </a:r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+ 운영 가치 2.5억
</a:t>
            </a:r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= 기업가치 10억 (Post-money)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06-1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지분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기업가치 10억 기준, 1억 참여 시 지분 10%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98948" cy="1371600"/>
          </a:xfrm>
          <a:prstGeom prst="roundRect">
            <a:avLst>
              <a:gd name="adj" fmla="val 4667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37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투자금 1억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21031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지분율 10%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148874" y="1737360"/>
            <a:ext cx="26494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기준안 연 귀속이익(세후) 5,130만원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1636" y="1572768"/>
            <a:ext cx="5298948" cy="1371600"/>
          </a:xfrm>
          <a:prstGeom prst="roundRect">
            <a:avLst>
              <a:gd name="adj" fmla="val 4667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9380" y="1737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투자금 2억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69380" y="21031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지분율 20%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22142" y="1737360"/>
            <a:ext cx="264947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기준안 연 귀속이익(세후) 1억 260만원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200400"/>
            <a:ext cx="5298948" cy="1207008"/>
          </a:xfrm>
          <a:prstGeom prst="roundRect">
            <a:avLst>
              <a:gd name="adj" fmla="val 5303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" y="3364992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투자 형태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77824" y="3694176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신설 운영법인 지분 인수 (Post-money 10억 기준)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1636" y="3200400"/>
            <a:ext cx="5298948" cy="1207008"/>
          </a:xfrm>
          <a:prstGeom prst="roundRect">
            <a:avLst>
              <a:gd name="adj" fmla="val 5303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51092" y="3364992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운영 주체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51092" y="3694176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(주)에스비제이컴퍼니가 운영 · 회계를 총괄, 투자자는 경영 비참여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4626864"/>
            <a:ext cx="5298948" cy="1207008"/>
          </a:xfrm>
          <a:prstGeom prst="roundRect">
            <a:avLst>
              <a:gd name="adj" fmla="val 5303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7824" y="4791456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77824" y="512064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손익 보고, 연 1회 배당 결의. 배당성향은 주주 협의로 결정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31636" y="4626864"/>
            <a:ext cx="5298948" cy="1207008"/>
          </a:xfrm>
          <a:prstGeom prst="roundRect">
            <a:avLst>
              <a:gd name="adj" fmla="val 5303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51092" y="4791456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안전장치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51092" y="5120640"/>
            <a:ext cx="48600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투자금은 임대차 계약 체결 후 집행. 미계약 시 전액 반환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6035040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귀속이익은 기준안 영업이익에서 법인세 실효세율 21%를 차감한 값이며, 실제 배당액은 유보 정책에 따라 달라진다.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07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매출 계획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저녁 1.05회전에 점심 0.35회전을 더하면 월 3억이다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3716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29968" y="1572768"/>
            <a:ext cx="1737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좌석수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767328" y="1572768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 회전율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96128" y="1572768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객단가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16368" y="1572768"/>
            <a:ext cx="1737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월 영업일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53728" y="1572768"/>
            <a:ext cx="227685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월 매출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011680"/>
            <a:ext cx="10872216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48256"/>
            <a:ext cx="13716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29968" y="2048256"/>
            <a:ext cx="1737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67328" y="2048256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1.05회전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96128" y="2048256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55,000원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16368" y="2048256"/>
            <a:ext cx="1737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53728" y="2048256"/>
            <a:ext cx="227685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2.70억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2487168"/>
            <a:ext cx="10872216" cy="0"/>
          </a:xfrm>
          <a:prstGeom prst="line">
            <a:avLst/>
          </a:prstGeom>
          <a:noFill/>
          <a:ln w="9525">
            <a:solidFill>
              <a:srgbClr val="E4DD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505456"/>
            <a:ext cx="13716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29968" y="2505456"/>
            <a:ext cx="1737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67328" y="2505456"/>
            <a:ext cx="18288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0.35회전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96128" y="2505456"/>
            <a:ext cx="1920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18,000원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16368" y="2505456"/>
            <a:ext cx="17373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53728" y="2505456"/>
            <a:ext cx="227685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0.29억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2944368"/>
            <a:ext cx="10872216" cy="0"/>
          </a:xfrm>
          <a:prstGeom prst="line">
            <a:avLst/>
          </a:prstGeom>
          <a:noFill/>
          <a:ln w="9525">
            <a:solidFill>
              <a:srgbClr val="E4DD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962656"/>
            <a:ext cx="36576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기준안 월 매출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53728" y="2962656"/>
            <a:ext cx="227685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2.99억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" y="3840480"/>
            <a:ext cx="3441192" cy="1700784"/>
          </a:xfrm>
          <a:prstGeom prst="roundRect">
            <a:avLst>
              <a:gd name="adj" fmla="val 3763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3986784"/>
            <a:ext cx="300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안정안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7824" y="4334256"/>
            <a:ext cx="300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저녁 0.79 · 점심 0.26회전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77824" y="4626864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월 2.25억 · 일 866만원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" y="4956048"/>
            <a:ext cx="3002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단일 피크만 가능한 경우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73880" y="3840480"/>
            <a:ext cx="3441192" cy="1700784"/>
          </a:xfrm>
          <a:prstGeom prst="roundRect">
            <a:avLst>
              <a:gd name="adj" fmla="val 3763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93336" y="3986784"/>
            <a:ext cx="300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기준안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93336" y="4334256"/>
            <a:ext cx="300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저녁 1.05 · 점심 0.35회전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93336" y="4626864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월 3.00억 · 일 1,153만원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93336" y="4956048"/>
            <a:ext cx="3002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 라인 정착 + 저녁 1회전 이상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89392" y="3840480"/>
            <a:ext cx="3441192" cy="1700784"/>
          </a:xfrm>
          <a:prstGeom prst="roundRect">
            <a:avLst>
              <a:gd name="adj" fmla="val 3763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8848" y="3986784"/>
            <a:ext cx="300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확장안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08848" y="4334256"/>
            <a:ext cx="300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저녁 1.40 · 점심 0.47회전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308848" y="4626864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월 4.00억 · 일 1,539만원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08848" y="4956048"/>
            <a:ext cx="3002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2부제 + 3층 룸 예약 상시 가능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" y="5943600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객단가는 메뉴 가격표에서 산출했다. 저녁 55,000원은 2인 표준 50,500원과 4인 회식 59,000원 사이 값이며, 룸 접대 74,000원은 반영하지 않았다.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08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손익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기준안 월 3억에서 EBITDA 6,000만원, 20.0%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58368" y="155448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779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30,000만원 = 100% 기준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0" y="1554480"/>
            <a:ext cx="3758184" cy="1956816"/>
          </a:xfrm>
          <a:prstGeom prst="roundRect">
            <a:avLst>
              <a:gd name="adj" fmla="val 3271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10144" y="1755648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6,000</a:t>
            </a:r>
            <a:pPr indent="0" marL="0">
              <a:buNone/>
            </a:pPr>
            <a:r>
              <a:rPr lang="en-US" sz="15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만원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10144" y="239572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EBITDA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10144" y="2670048"/>
            <a:ext cx="3300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대비 20.0% · 월 영업일 26일 기준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772400" y="3712464"/>
            <a:ext cx="3758184" cy="1956816"/>
          </a:xfrm>
          <a:prstGeom prst="roundRect">
            <a:avLst>
              <a:gd name="adj" fmla="val 3271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10144" y="3913632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5,417</a:t>
            </a:r>
            <a:pPr indent="0" marL="0">
              <a:buNone/>
            </a:pPr>
            <a:r>
              <a:rPr lang="en-US" sz="15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만원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010144" y="455371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영업이익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10144" y="4828032"/>
            <a:ext cx="33009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대비 18.1% · 감가상각 583만원 차감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" y="6053328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감가상각은 인테리어 · 기물 3.5억을 5년 정액으로 배분했다. 목표 이익률 20%는 EBITDA 기준에서 성립하며, 감가상각 반영 시 18.1%다.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09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손익분기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하루 0.87회전이면 손실이 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3441192" cy="1828800"/>
          </a:xfrm>
          <a:prstGeom prst="roundRect">
            <a:avLst>
              <a:gd name="adj" fmla="val 3500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828800"/>
            <a:ext cx="298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1.87</a:t>
            </a:r>
            <a:pPr indent="0" marL="0">
              <a:buNone/>
            </a:pPr>
            <a:r>
              <a:rPr lang="en-US" sz="15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억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6112" y="2468880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손익분기 월매출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743200"/>
            <a:ext cx="2983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매출의 62% 수준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73880" y="1627632"/>
            <a:ext cx="3441192" cy="1828800"/>
          </a:xfrm>
          <a:prstGeom prst="roundRect">
            <a:avLst>
              <a:gd name="adj" fmla="val 3500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1624" y="1828800"/>
            <a:ext cx="298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720</a:t>
            </a:r>
            <a:pPr indent="0" marL="0">
              <a:buNone/>
            </a:pPr>
            <a:r>
              <a:rPr lang="en-US" sz="15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만원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11624" y="2468880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손익분기 일매출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1624" y="2743200"/>
            <a:ext cx="2983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26일 영업 기준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89392" y="1627632"/>
            <a:ext cx="3441192" cy="1828800"/>
          </a:xfrm>
          <a:prstGeom prst="roundRect">
            <a:avLst>
              <a:gd name="adj" fmla="val 3500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7136" y="1828800"/>
            <a:ext cx="298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0.87</a:t>
            </a:r>
            <a:pPr indent="0" marL="0">
              <a:buNone/>
            </a:pPr>
            <a:r>
              <a:rPr lang="en-US" sz="15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회전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7136" y="2468880"/>
            <a:ext cx="2983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손익분기 좌석회전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7136" y="2743200"/>
            <a:ext cx="2983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180석 · 평균 객단가 45,750원 기준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3785616"/>
            <a:ext cx="10872216" cy="1572768"/>
          </a:xfrm>
          <a:prstGeom prst="roundRect">
            <a:avLst>
              <a:gd name="adj" fmla="val 4070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9684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고정비 구조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4315968"/>
            <a:ext cx="10396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· 관리비 2,900만원  ·  정직원 인건비 5,500만원  ·  감가상각 583만원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4681728"/>
            <a:ext cx="10396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월 고정비 합계 8,983만원</a:t>
            </a:r>
            <a:pPr indent="0" marL="0">
              <a:buNone/>
            </a:pPr>
            <a:r>
              <a:rPr lang="en-US" sz="14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·  공헌이익률 48%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" y="5577840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고정비가 목표 매출의 30.0%로, F&amp;B 위험 구간인 35%를 밑돈다.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2,500만원은 136평 4개 층 기준으로 평당 18만원 수준이다.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10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시나리오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매출이 기준안 대비 25% 빠져도 영업이익은 흑자를 유지한다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58368" y="1627632"/>
          <a:ext cx="6309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737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구분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1737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월 매출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509760" y="1737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월 영업이익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881360" y="173736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이익률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06640" y="2066544"/>
            <a:ext cx="4123944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21579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안정안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0" y="21579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2.25억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509760" y="21579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1,817만원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881360" y="2157984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8.1%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2615184"/>
            <a:ext cx="4123944" cy="0"/>
          </a:xfrm>
          <a:prstGeom prst="line">
            <a:avLst/>
          </a:prstGeom>
          <a:noFill/>
          <a:ln w="9525">
            <a:solidFill>
              <a:srgbClr val="E4DD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0" y="26700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기준안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12480" y="26700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3.00억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509760" y="2670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5,417만원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881360" y="2670048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18.1%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06640" y="3127248"/>
            <a:ext cx="4123944" cy="0"/>
          </a:xfrm>
          <a:prstGeom prst="line">
            <a:avLst/>
          </a:prstGeom>
          <a:noFill/>
          <a:ln w="9525">
            <a:solidFill>
              <a:srgbClr val="E4DD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0" y="31821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확장안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412480" y="31821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4.00억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509760" y="31821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10,217만원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0881360" y="3182112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25.5%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406640" y="3639312"/>
            <a:ext cx="4123944" cy="0"/>
          </a:xfrm>
          <a:prstGeom prst="line">
            <a:avLst/>
          </a:prstGeom>
          <a:noFill/>
          <a:ln w="9525">
            <a:solidFill>
              <a:srgbClr val="E4DD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06640" y="3931920"/>
            <a:ext cx="4123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안정안은 기준안 대비 매출 25% 하회, 확장안은 33% 상회를 가정했다. 세 시나리오 모두 고정비 구조는 동일하다.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58368" y="5943600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고정비가 낮은 임대 조건 덕분에 하방이 막혀 있다. 점심 매출이 정착되면 기준안, 3층 룸 예약이 상시 가동되면 확장안 구간으로 올라선다.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11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확장 로드맵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3개월 간격 연속 출점으로 프랜차이즈 본부까지 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700784"/>
            <a:ext cx="3441192" cy="3383280"/>
          </a:xfrm>
          <a:prstGeom prst="roundRect">
            <a:avLst>
              <a:gd name="adj" fmla="val 1892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8836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77824" y="2414016"/>
            <a:ext cx="300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1 · 1호점 검증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724912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7B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2026.10 ~ 2026.12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3127248"/>
            <a:ext cx="303885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BEP 조기 도달 후 월 3억 매출 안정화</a:t>
            </a:r>
            <a:endParaRPr lang="en-US" sz="1000" dirty="0"/>
          </a:p>
          <a:p>
            <a:pPr marL="127000" indent="-1270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레시피, 원가율, 운영 매뉴얼 확정</a:t>
            </a:r>
            <a:endParaRPr lang="en-US" sz="1000" dirty="0"/>
          </a:p>
          <a:p>
            <a:pPr marL="127000" indent="-1270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주방 · 3개 층 구조의 표준 모델화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3880" y="1700784"/>
            <a:ext cx="3441192" cy="3383280"/>
          </a:xfrm>
          <a:prstGeom prst="roundRect">
            <a:avLst>
              <a:gd name="adj" fmla="val 1892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3336" y="18836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93336" y="2414016"/>
            <a:ext cx="300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2 · 직영 2·3호점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3336" y="2724912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7B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2027.01 ~ 2027.04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3336" y="3127248"/>
            <a:ext cx="303885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1호점 BEP 확인 후 3개월 간격으로 연속 출점</a:t>
            </a:r>
            <a:endParaRPr lang="en-US" sz="1000" dirty="0"/>
          </a:p>
          <a:p>
            <a:pPr marL="127000" indent="-1270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상권: 압구정 · 신사 · 신용산 · 한남동</a:t>
            </a:r>
            <a:endParaRPr lang="en-US" sz="1000" dirty="0"/>
          </a:p>
          <a:p>
            <a:pPr marL="127000" indent="-1270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중앙 공급 체계 구축, 원가율 추가 절감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9392" y="1700784"/>
            <a:ext cx="3441192" cy="3383280"/>
          </a:xfrm>
          <a:prstGeom prst="roundRect">
            <a:avLst>
              <a:gd name="adj" fmla="val 1892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08848" y="188366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08848" y="2414016"/>
            <a:ext cx="3002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3 · 프랜차이즈 본부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08848" y="2724912"/>
            <a:ext cx="300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7B1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2027 하반기 ~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08848" y="3127248"/>
            <a:ext cx="303885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정보공개서 등록 후 가맹 전개</a:t>
            </a:r>
            <a:endParaRPr lang="en-US" sz="1000" dirty="0"/>
          </a:p>
          <a:p>
            <a:pPr marL="127000" indent="-1270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구조 전환: 매장 영업이익 → 가맹비 · 로열티 · 식자재 공급마진</a:t>
            </a:r>
            <a:endParaRPr lang="en-US" sz="1000" dirty="0"/>
          </a:p>
          <a:p>
            <a:pPr marL="127000" indent="-1270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출점 1건당 본부 이익이 누적되는 구조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5358384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1호점 손익만으로 판단하는 건이 아니다. 확장 단계에서 수익원이 매장 영업이익에서 본부 공급마진으로 옮겨가며, 출점 수에 비례해 이익 레버리지가 커진다.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5760720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 전개는 가맹사업법상 정보공개서 등록을 선행 요건으로 한다. Phase 3 착수 시점에 등록 절차를 진행한다.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12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본부 지분 옵션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1호점 투자자에게 본부 법인 지분 취득 우선권을 부여한다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5298948" cy="1298448"/>
          </a:xfrm>
          <a:prstGeom prst="roundRect">
            <a:avLst>
              <a:gd name="adj" fmla="val 4930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700784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옵션 내용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" y="2029968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프랜차이즈 본부 법인 설립 시, 1호점 초기 투자자에게 신주 인수 우선권을 부여한다.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31636" y="1536192"/>
            <a:ext cx="5298948" cy="1298448"/>
          </a:xfrm>
          <a:prstGeom prst="roundRect">
            <a:avLst>
              <a:gd name="adj" fmla="val 4930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1092" y="1700784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행사 요건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51092" y="2029968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1호점 3개월 연속 흑자로 BEP 안정 도달이 확인된 시점, 또는 2호점 출점 결의 시점 중 먼저 도래하는 때.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2980944"/>
            <a:ext cx="5298948" cy="1298448"/>
          </a:xfrm>
          <a:prstGeom prst="roundRect">
            <a:avLst>
              <a:gd name="adj" fmla="val 4930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3145536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행사 한도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7824" y="347472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1호점 지분율에 비례한 범위. 지분 10% 보유 시 본부 법인 지분 [   ]%까지 인수 가능.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1636" y="2980944"/>
            <a:ext cx="5298948" cy="1298448"/>
          </a:xfrm>
          <a:prstGeom prst="roundRect">
            <a:avLst>
              <a:gd name="adj" fmla="val 4930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1092" y="3145536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행사 가격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1092" y="3474720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법인 설립 당시 발행가 기준 [   ]. 후속 라운드 밸류와 무관하게 고정한다.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4425696"/>
            <a:ext cx="5298948" cy="1298448"/>
          </a:xfrm>
          <a:prstGeom prst="roundRect">
            <a:avLst>
              <a:gd name="adj" fmla="val 4930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7824" y="4590288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1호점 지분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7824" y="4919472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지분 인수 후에도 1호점 지분은 유지한다. 스왑 방식은 적용하지 않는다.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1636" y="4425696"/>
            <a:ext cx="5298948" cy="1298448"/>
          </a:xfrm>
          <a:prstGeom prst="roundRect">
            <a:avLst>
              <a:gd name="adj" fmla="val 4930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51092" y="4590288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옵션의 의미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51092" y="4919472"/>
            <a:ext cx="48600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1호점 투자는 단일 매장에 대한 투자로 끝나지 않는다. 검증이 완료되면 확장 주체인 본부 법인에 초기 조건으로 참여할 수 있는 권리가 함께 따라온다.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5943600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본부 법인은 프랜차이즈 사업을 위해 별도 설립하는 신설 법인이다. SBJ컴퍼니의 기존 운영 사업 지분과는 무관하다.  ·  [   ] 표기 항목은 본부 법인 설립 시점에 확정한다. 옵션의 구체 조건은 투자계약서 부속 합의로 정한다.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13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리스크 관리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성과를 좌우하는 네 가지 변수는 이미 관리 계획에 들어가 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 변수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78608" y="1572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배경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242048" y="157276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 방안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1883664"/>
            <a:ext cx="10872216" cy="0"/>
          </a:xfrm>
          <a:prstGeom prst="line">
            <a:avLst/>
          </a:prstGeom>
          <a:noFill/>
          <a:ln w="12700">
            <a:solidFill>
              <a:srgbClr val="1414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11680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서빙 동선 설계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78608" y="2011680"/>
            <a:ext cx="4343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주방에서 3개 층을 서빙하는 구조다. 더미웨이터 처리량이 피크 타임 좌석 가동률을 결정한다.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42048" y="2011680"/>
            <a:ext cx="42885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단계에서 2기 또는 대용량 1기로 확정. 층별 서비스 스테이션을 두어 호출 빈도를 본요리 중심으로 축소.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2926080"/>
            <a:ext cx="10872216" cy="0"/>
          </a:xfrm>
          <a:prstGeom prst="line">
            <a:avLst/>
          </a:prstGeom>
          <a:noFill/>
          <a:ln w="9525">
            <a:solidFill>
              <a:srgbClr val="E4DD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3580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원가 관리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78608" y="3035808"/>
            <a:ext cx="4343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 원육은 시세 변동 폭이 있는 품목이다. 식자재율이 원가 구조의 핵심 변수다.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42048" y="3035808"/>
            <a:ext cx="42885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산지 연간 물량 계약으로 단가를 고정. 사이드 메뉴 비중을 높여 원가 구성을 분산.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3950208"/>
            <a:ext cx="10872216" cy="0"/>
          </a:xfrm>
          <a:prstGeom prst="line">
            <a:avLst/>
          </a:prstGeom>
          <a:noFill/>
          <a:ln w="9525">
            <a:solidFill>
              <a:srgbClr val="E4DD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059936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오픈 일정 관리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78608" y="4059936"/>
            <a:ext cx="4343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조리시설은 급배기 · 소방 · 정화 인허가 절차가 수반된다.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42048" y="4059936"/>
            <a:ext cx="42885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예비비 1억을 별도 편성. 임대차 계약과 동시에 인허가를 선행 접수하고 착공 전 도면을 확정.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4974336"/>
            <a:ext cx="10872216" cy="0"/>
          </a:xfrm>
          <a:prstGeom prst="line">
            <a:avLst/>
          </a:prstGeom>
          <a:noFill/>
          <a:ln w="9525">
            <a:solidFill>
              <a:srgbClr val="E4DD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084064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점심 수요 확보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78608" y="5084064"/>
            <a:ext cx="4343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기준안 회전율은 점심 운영을 포함한 값이다. 데이타임 매출이 기준안 도달의 관건이다.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42048" y="5084064"/>
            <a:ext cx="42885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 단품 점심 메뉴를 별도 구성. 인근 오피스 대상 예약 · 선결제 채널을 오픈 전 확보.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14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일정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9월 계약, 10월 말 오픈. 연말 성수기 전 정상 가동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24128" y="2377440"/>
            <a:ext cx="10140696" cy="0"/>
          </a:xfrm>
          <a:prstGeom prst="line">
            <a:avLst/>
          </a:prstGeom>
          <a:noFill/>
          <a:ln w="25400">
            <a:solidFill>
              <a:srgbClr val="E4DD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2951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9월 1주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" y="2596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임대차 계약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-9144" y="2926080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3억 집행. 투자금 납입 개시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7006" y="22951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9182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9월 2~3주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99182" y="2596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 확정 · 인허가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26030" y="2926080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급배기 · 소방 도면 확정, 영업신고 접수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12180" y="22951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4356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9월 중순~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34356" y="2596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착공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61204" y="2926080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층 동시 시공. 더미웨이터 설치 선행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47354" y="229514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953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10월 1~3주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69530" y="2596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설비 · 집기 반입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96378" y="2926080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로스터 · 주방 설비 반입, 홀 집기. 인력 채용 · 교육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082528" y="2295144"/>
            <a:ext cx="164592" cy="164592"/>
          </a:xfrm>
          <a:prstGeom prst="ellipse">
            <a:avLst/>
          </a:prstGeom>
          <a:solidFill>
            <a:srgbClr val="C9A22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04704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10월 말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204704" y="2596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31552" y="2926080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시운전 후 정식 오픈. 11~12월 연말 회식 수요 흡수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4572000"/>
            <a:ext cx="10872216" cy="969264"/>
          </a:xfrm>
          <a:prstGeom prst="roundRect">
            <a:avLst>
              <a:gd name="adj" fmla="val 6604"/>
            </a:avLst>
          </a:prstGeom>
          <a:solidFill>
            <a:srgbClr val="F6F2E9"/>
          </a:solidFill>
          <a:ln w="9525">
            <a:solidFill>
              <a:srgbClr val="E4DD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572000"/>
            <a:ext cx="103967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말 오픈은 11~12월 연말 회식 시즌을 첫 두 달에 흡수한다는 뜻이다. 초기 현금흐름이 가장 빠르게 확보되는 시점에 오픈하는 일정이다.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15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운영 주체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청담 상권에서 매장을 운영해 온 회사가 직접 운영한다</a:t>
            </a:r>
            <a:endParaRPr lang="en-US" sz="2500" dirty="0"/>
          </a:p>
        </p:txBody>
      </p:sp>
      <p:pic>
        <p:nvPicPr>
          <p:cNvPr id="4" name="Image 0" descr="deck_assets/vip_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627632"/>
            <a:ext cx="4480560" cy="2798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59168" y="4498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VIP 프라이빗 룸 시안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58368" y="1517904"/>
            <a:ext cx="6035040" cy="1078992"/>
          </a:xfrm>
          <a:prstGeom prst="roundRect">
            <a:avLst>
              <a:gd name="adj" fmla="val 5932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77824" y="1682496"/>
            <a:ext cx="559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(주)에스비제이컴퍼니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77824" y="2011680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새벽집, 새벽국밥을 운영하는 외식 전문 법인이다. 계약 당사자이자 삼성동점의 운영 주체다.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58368" y="2715768"/>
            <a:ext cx="6035040" cy="1078992"/>
          </a:xfrm>
          <a:prstGeom prst="roundRect">
            <a:avLst>
              <a:gd name="adj" fmla="val 5932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77824" y="2880360"/>
            <a:ext cx="559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동일 상권 운영 경험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77824" y="3209544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· 청담 상권에서 다점포를 운영해 왔다. 삼성동점이 겨냥하는 회식 · 접대 수요를 이미 다뤄온 조직이다.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58368" y="3913632"/>
            <a:ext cx="6035040" cy="1078992"/>
          </a:xfrm>
          <a:prstGeom prst="roundRect">
            <a:avLst>
              <a:gd name="adj" fmla="val 5932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77824" y="4078224"/>
            <a:ext cx="559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브랜드 자산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77824" y="4407408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오리닭은 사인 · 인테리어 · 집기까지 VI가 확정된 상태다. 삼성동점은 첫 실행이 아니라 확정된 모델의 전개다.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8368" y="5111496"/>
            <a:ext cx="6035040" cy="1078992"/>
          </a:xfrm>
          <a:prstGeom prst="roundRect">
            <a:avLst>
              <a:gd name="adj" fmla="val 5932"/>
            </a:avLst>
          </a:prstGeom>
          <a:solidFill>
            <a:srgbClr val="FBF9F4"/>
          </a:solidFill>
          <a:ln w="9525">
            <a:solidFill>
              <a:srgbClr val="E4DDCC"/>
            </a:solidFill>
            <a:prstDash val="solid"/>
          </a:ln>
          <a:effectLst>
            <a:outerShdw sx="100000" sy="100000" kx="0" ky="0" algn="bl" rotWithShape="0" blurRad="88900" dist="25400" dir="5400000">
              <a:srgbClr val="3A3428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77824" y="5276088"/>
            <a:ext cx="5596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회계 투명성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77824" y="5605272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손익을 표준 양식으로 보고한다. 매장별 매출 · 매입 원장을 분리 관리한다.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2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16</a:t>
            </a:r>
            <a:pPr indent="0" marL="0">
              <a:buNone/>
            </a:pPr>
            <a:r>
              <a:rPr lang="en-US" sz="1200" spc="400" kern="0" dirty="0">
                <a:solidFill>
                  <a:srgbClr val="7A74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제안 조건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제안 조건 요약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0872216" cy="493776"/>
          </a:xfrm>
          <a:prstGeom prst="rect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7276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투자 대상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01568" y="1572768"/>
            <a:ext cx="7946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(주)에스비제이컴퍼니가 설립하는 삼성동점 운영법인 (설립 예정)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06654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기업가치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01568" y="2066544"/>
            <a:ext cx="7946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10억원 (Post-money). 현금 소요 7.5억 + 운영 가치 2.5억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560320"/>
            <a:ext cx="10872216" cy="493776"/>
          </a:xfrm>
          <a:prstGeom prst="rect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56032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투자 규모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01568" y="2560320"/>
            <a:ext cx="7946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1억원 = 지분 10%  /  2억원 = 지분 20%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05409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자금 사용처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01568" y="3054096"/>
            <a:ext cx="7946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3억, 인테리어 3억, 기물 · 집기 5천만원, 예비비 1억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547872"/>
            <a:ext cx="10872216" cy="493776"/>
          </a:xfrm>
          <a:prstGeom prst="rect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5478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집행 조건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01568" y="3547872"/>
            <a:ext cx="7946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계약 체결을 선행 조건으로 투자금 납입. 미계약 시 전액 반환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404164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기대 성과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01568" y="4041648"/>
            <a:ext cx="7946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기준안 월 매출 3억, EBITDA 6,000만원 (20.0%), 영업이익률 18.1%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4535424"/>
            <a:ext cx="10872216" cy="493776"/>
          </a:xfrm>
          <a:prstGeom prst="rect">
            <a:avLst/>
          </a:prstGeom>
          <a:solidFill>
            <a:srgbClr val="F8F5EE"/>
          </a:solidFill>
          <a:ln w="12700">
            <a:solidFill>
              <a:srgbClr val="F8F5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535424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보고 체계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01568" y="4535424"/>
            <a:ext cx="7946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매출 보고, 분기 손익계산서 제공, 연 1회 배당 결의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502920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7B1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본부 지분 옵션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01568" y="5029200"/>
            <a:ext cx="7946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1호점 BEP 안정 도달 시 프랜차이즈 본부 법인 신주 인수 우선권 부여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5943600"/>
            <a:ext cx="10872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제안서의 재무 수치는 명시된 가정에 기반한 추정치이며 수익을 보장하지 않는다. 최종 조건은 투자계약서에 따른다.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6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roaster_cl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pic>
        <p:nvPicPr>
          <p:cNvPr id="3" name="Image 1" descr="deck_assets/left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0"/>
            <a:ext cx="6153912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22860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청담 오리닭 삼성동점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658368" y="3108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B4AC99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청담오리닭 · CHUNGDAM ORI DAK</a:t>
            </a:r>
            <a:endParaRPr lang="en-US" sz="1150" dirty="0"/>
          </a:p>
        </p:txBody>
      </p:sp>
      <p:sp>
        <p:nvSpPr>
          <p:cNvPr id="6" name="Shape 2"/>
          <p:cNvSpPr/>
          <p:nvPr/>
        </p:nvSpPr>
        <p:spPr>
          <a:xfrm>
            <a:off x="658368" y="3675888"/>
            <a:ext cx="4754880" cy="0"/>
          </a:xfrm>
          <a:prstGeom prst="line">
            <a:avLst/>
          </a:prstGeom>
          <a:noFill/>
          <a:ln w="9525">
            <a:solidFill>
              <a:srgbClr val="C9A227">
                <a:alpha val="7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" y="387705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검토 후 회신 주시면 실사 자료와 도면을 제공하겠습니다.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58368" y="437083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(주)에스비제이컴퍼니  |  대표 박경배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강남구 압구정로 73-2 4층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새벽집 · 새벽국밥 운영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58368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AC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청담 오리닭 · 공동투자 제안서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0616184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AC99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2026-08-22T12:15:12Z</dcterms:created>
  <dcterms:modified xsi:type="dcterms:W3CDTF">2026-08-22T12:15:12Z</dcterms:modified>
</cp:coreProperties>
</file>