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D"/>
          </a:solidFill>
          <a:ln w="12700">
            <a:solidFill>
              <a:srgbClr val="15110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118"/>
          </a:solidFill>
          <a:ln w="12700">
            <a:solidFill>
              <a:srgbClr val="2B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7A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CHEONGDAM FIRE FARM · 5억 예산 재설계안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D"/>
          </a:solidFill>
          <a:ln w="12700">
            <a:solidFill>
              <a:srgbClr val="15110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CHEONGDAM FIRE FARM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26187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청담 오리닭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566928" y="213969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 예산 재설계안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2743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1 Lean Launch · 핵심 콘텐츠 우선 · 24시간 운영은 검증 후 확대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900000">
            <a:off x="7955280" y="914400"/>
            <a:ext cx="3291840" cy="3291840"/>
          </a:xfrm>
          <a:prstGeom prst="arc">
            <a:avLst/>
          </a:prstGeom>
          <a:solidFill>
            <a:srgbClr val="8D3B23">
              <a:alpha val="94000"/>
            </a:srgbClr>
          </a:solidFill>
          <a:ln w="12700">
            <a:solidFill>
              <a:srgbClr val="8D3B2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900000">
            <a:off x="8412480" y="1353312"/>
            <a:ext cx="2377440" cy="2377440"/>
          </a:xfrm>
          <a:prstGeom prst="arc">
            <a:avLst/>
          </a:prstGeom>
          <a:solidFill>
            <a:srgbClr val="C8A86A">
              <a:alpha val="84000"/>
            </a:srgbClr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91856" y="5669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총예산 5.0억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36992" y="6062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전면 완성형이 아니라 핵심 검증형 오픈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5억으로는 “전체 완성형”이 아니라 “핵심 검증형”으로 가야 합니다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REVISED BUDGET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2B2118"/>
          </a:solidFill>
          <a:ln w="8890">
            <a:solidFill>
              <a:srgbClr val="5C4935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74650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 예산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676656" y="198424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5.0억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" y="2386584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시설·초도 운영 포함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80360" y="16002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2B2118"/>
          </a:solidFill>
          <a:ln w="8890">
            <a:solidFill>
              <a:srgbClr val="5C4935">
                <a:alpha val="8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8376" y="174650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범위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008376" y="198424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220~260평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08376" y="2386584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1층 핵심 + 룸 일부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212080" y="16002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2B2118"/>
          </a:solidFill>
          <a:ln w="8890">
            <a:solidFill>
              <a:srgbClr val="5C4935">
                <a:alpha val="8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0096" y="174650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목표 매출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5340096" y="198424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3.6~4.8억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0096" y="2386584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안정화 기준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543800" y="16002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2B2118"/>
          </a:solidFill>
          <a:ln w="8890">
            <a:solidFill>
              <a:srgbClr val="5C4935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71816" y="174650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시간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7671816" y="198424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11:30~02:00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71816" y="2386584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24시간은 2단계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875520" y="160020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2B2118"/>
          </a:solidFill>
          <a:ln w="8890">
            <a:solidFill>
              <a:srgbClr val="5C4935">
                <a:alpha val="8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03536" y="1746504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BEP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0003536" y="198424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2.7~3.0억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03536" y="2386584"/>
            <a:ext cx="1527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기준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108960"/>
            <a:ext cx="73152" cy="1325880"/>
          </a:xfrm>
          <a:prstGeom prst="rect">
            <a:avLst/>
          </a:prstGeom>
          <a:solidFill>
            <a:srgbClr val="A5452F"/>
          </a:solidFill>
          <a:ln w="12700">
            <a:solidFill>
              <a:srgbClr val="A5452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246120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545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판단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566160"/>
            <a:ext cx="496519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9억대 안은 400평 전체·대형 특수기물·개폐천막·24시간 운영을 전제로 한 확장형 모델입니다. 5억에서는 같은 목표를 유지하면 공사비 초과와 운영자금 부족이 발생합니다.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3108960"/>
            <a:ext cx="5577840" cy="1325880"/>
          </a:xfrm>
          <a:prstGeom prst="roundRect">
            <a:avLst>
              <a:gd name="adj" fmla="val 4138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3108960"/>
            <a:ext cx="73152" cy="1325880"/>
          </a:xfrm>
          <a:prstGeom prst="rect">
            <a:avLst/>
          </a:prstGeom>
          <a:solidFill>
            <a:srgbClr val="75905B"/>
          </a:solidFill>
          <a:ln w="12700">
            <a:solidFill>
              <a:srgbClr val="75905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3246120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590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 방향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45352" y="3566160"/>
            <a:ext cx="528523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청담 오리닭의 핵심 경쟁력인 화덕·야장·룸 수요는 살리되, 전체 공간 완성도보다 매출이 나는 구역을 먼저 오픈합니다. 나머지는 매출 검증 후 2단계 투자로 확장합니다.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54406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결론: 계약은 가능하지만, 조건은 “1단계 오픈 + 2단계 확장 옵션 + 인허가 선확정”입니다.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CHANGE LOG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기존안에서 반드시 바꿔야 하는 5가지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9.2억 → 5.0억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0881360" cy="716280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64208"/>
            <a:ext cx="170078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32888" y="1664208"/>
            <a:ext cx="407822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39128" y="1664208"/>
            <a:ext cx="471830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 재설계안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316480"/>
            <a:ext cx="10881360" cy="71628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380488"/>
            <a:ext cx="170078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 범위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32888" y="2380488"/>
            <a:ext cx="407822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400평 전체 완성형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39128" y="2380488"/>
            <a:ext cx="471830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220~260평 핵심영업구역 우선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032760"/>
            <a:ext cx="10881360" cy="71628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096768"/>
            <a:ext cx="170078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시간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32888" y="3096768"/>
            <a:ext cx="407822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24시간 3교대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39128" y="3096768"/>
            <a:ext cx="471830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11:30~02:00 검증 후 심야 확대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10881360" cy="71628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813048"/>
            <a:ext cx="170078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특수 시설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32888" y="3813048"/>
            <a:ext cx="407822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대형 화덕 + 전동 개폐 천막 풀스펙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39128" y="3813048"/>
            <a:ext cx="471830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축소형 화덕 + 부분 개폐/고정 혼합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465320"/>
            <a:ext cx="10881360" cy="71628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4529328"/>
            <a:ext cx="170078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룸 구성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32888" y="4529328"/>
            <a:ext cx="407822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2층 6개 룸 전체 고급화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39128" y="4529328"/>
            <a:ext cx="471830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2~3개 룸 선오픈, 나머지 단계 확장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5181600"/>
            <a:ext cx="10881360" cy="71628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5245608"/>
            <a:ext cx="170078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회수 논리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32888" y="5245608"/>
            <a:ext cx="407822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5~6개월 회수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39128" y="5245608"/>
            <a:ext cx="471830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안정화 후 10~14개월 목표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" y="608990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예산을 줄이는 것이 아니라, 실패 확률이 높은 범위를 잘라내는 것입니다.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BRAND 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컨셉은 유지하되, 표현은 더 선명하게 압축합니다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HOOK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청담 불오리 야장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 앞에서 굽고, 야장처럼 마시고, 청담답게 접대하는 대형 화덕 다이닝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06324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063240"/>
            <a:ext cx="73152" cy="141732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20040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불의 장면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" y="3520440"/>
            <a:ext cx="31363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고객이 입장하자마자 보이는 회전 화덕과 로스팅 장면. “사진이 되는 메인 콘텐츠”만큼은 예산을 지켜야 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0832" y="306324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3063240"/>
            <a:ext cx="73152" cy="141732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320040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야장 무드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35424" y="3520440"/>
            <a:ext cx="31363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전동 풀스펙 천막이 아니라도, 조명·천장·식재·환기 설계로 실내 야장감을 먼저 구현합니다.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306324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3063240"/>
            <a:ext cx="73152" cy="141732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312" y="320040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룸 매출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11312" y="3520440"/>
            <a:ext cx="31363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고급화보다 법인 접대용 룸 2~3개를 먼저 완성해 객단가를 방어합니다.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600000">
            <a:off x="8138160" y="1234440"/>
            <a:ext cx="2377440" cy="1828800"/>
          </a:xfrm>
          <a:prstGeom prst="arc">
            <a:avLst/>
          </a:prstGeom>
          <a:solidFill>
            <a:srgbClr val="8D3B23"/>
          </a:solidFill>
          <a:ln w="12700">
            <a:solidFill>
              <a:srgbClr val="8D3B2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900000">
            <a:off x="8641080" y="1536192"/>
            <a:ext cx="1417320" cy="1143000"/>
          </a:xfrm>
          <a:prstGeom prst="arc">
            <a:avLst/>
          </a:prstGeom>
          <a:solidFill>
            <a:srgbClr val="C8A86A">
              <a:alpha val="80000"/>
            </a:srgbClr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2743200"/>
            <a:ext cx="3017520" cy="0"/>
          </a:xfrm>
          <a:prstGeom prst="line">
            <a:avLst/>
          </a:prstGeom>
          <a:noFill/>
          <a:ln w="25400">
            <a:solidFill>
              <a:srgbClr val="C8A86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SPACE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400평 전체를 꾸미지 말고, 매출이 나는 1단계 구역을 먼저 만듭니다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PHASED OPENING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349240" cy="4160520"/>
          </a:xfrm>
          <a:prstGeom prst="rect">
            <a:avLst/>
          </a:prstGeom>
          <a:solidFill>
            <a:srgbClr val="211912"/>
          </a:solidFill>
          <a:ln w="12700">
            <a:solidFill>
              <a:srgbClr val="5C4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105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1F 핵심 영업구역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240280"/>
            <a:ext cx="1920240" cy="1005840"/>
          </a:xfrm>
          <a:prstGeom prst="rect">
            <a:avLst/>
          </a:prstGeom>
          <a:solidFill>
            <a:srgbClr val="3B2418"/>
          </a:solidFill>
          <a:ln w="15240">
            <a:solidFill>
              <a:srgbClr val="C8A8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468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240280"/>
            <a:ext cx="2468880" cy="2651760"/>
          </a:xfrm>
          <a:prstGeom prst="rect">
            <a:avLst/>
          </a:prstGeom>
          <a:solidFill>
            <a:srgbClr val="1B1610"/>
          </a:solidFill>
          <a:ln w="10160">
            <a:solidFill>
              <a:srgbClr val="5C4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331012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홀 45~55테이블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야장 무드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3520440"/>
            <a:ext cx="1920240" cy="1371600"/>
          </a:xfrm>
          <a:prstGeom prst="rect">
            <a:avLst/>
          </a:prstGeom>
          <a:solidFill>
            <a:srgbClr val="292117"/>
          </a:solidFill>
          <a:ln w="10160">
            <a:solidFill>
              <a:srgbClr val="5C4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023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카페/대기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소형 운영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1600200"/>
            <a:ext cx="5074920" cy="4160520"/>
          </a:xfrm>
          <a:prstGeom prst="rect">
            <a:avLst/>
          </a:prstGeom>
          <a:solidFill>
            <a:srgbClr val="211912"/>
          </a:solidFill>
          <a:ln w="12700">
            <a:solidFill>
              <a:srgbClr val="5C4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2F 단계 오픈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2331720"/>
            <a:ext cx="1143000" cy="914400"/>
          </a:xfrm>
          <a:prstGeom prst="rect">
            <a:avLst/>
          </a:prstGeom>
          <a:solidFill>
            <a:srgbClr val="3B2418"/>
          </a:solidFill>
          <a:ln w="12700">
            <a:solidFill>
              <a:srgbClr val="C8A8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VIP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2331720"/>
            <a:ext cx="1143000" cy="914400"/>
          </a:xfrm>
          <a:prstGeom prst="rect">
            <a:avLst/>
          </a:prstGeom>
          <a:solidFill>
            <a:srgbClr val="3B2418"/>
          </a:solidFill>
          <a:ln w="12700">
            <a:solidFill>
              <a:srgbClr val="C8A8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VIP 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55480" y="2331720"/>
            <a:ext cx="1143000" cy="914400"/>
          </a:xfrm>
          <a:prstGeom prst="rect">
            <a:avLst/>
          </a:prstGeom>
          <a:solidFill>
            <a:srgbClr val="3B2418"/>
          </a:solidFill>
          <a:ln w="12700">
            <a:solidFill>
              <a:srgbClr val="C8A8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VIP 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20840" y="3749040"/>
            <a:ext cx="3977640" cy="1051560"/>
          </a:xfrm>
          <a:prstGeom prst="rect">
            <a:avLst/>
          </a:prstGeom>
          <a:solidFill>
            <a:srgbClr val="17120D"/>
          </a:solidFill>
          <a:ln w="10160">
            <a:solidFill>
              <a:srgbClr val="5C49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41696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미시공/창고/향후 확장 구역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989320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면적: 1단계 220~260평 / 2단계 잔여 구역 확장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CAPEX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총예산 5억 배분안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TOTAL 500M KRW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10972800" cy="466344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72768"/>
            <a:ext cx="3118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904488" y="1572768"/>
            <a:ext cx="1152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금액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5184648" y="1572768"/>
            <a:ext cx="6318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기준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975104"/>
            <a:ext cx="10972800" cy="466344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039112"/>
            <a:ext cx="3118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설계·인허가·소방·감리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904488" y="2039112"/>
            <a:ext cx="1152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0.35억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5184648" y="2039112"/>
            <a:ext cx="6318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계약 전 사전검토 + 신고/허가 비용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94360" y="2441448"/>
            <a:ext cx="10972800" cy="466344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05456"/>
            <a:ext cx="3118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내장·전기·조명·냉난방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904488" y="2505456"/>
            <a:ext cx="1152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1.35억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184648" y="2505456"/>
            <a:ext cx="6318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고급화 금지, 매출 구역 우선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94360" y="2907792"/>
            <a:ext cx="10972800" cy="466344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971800"/>
            <a:ext cx="3118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주방·냉동냉장·급배기·가스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3904488" y="2971800"/>
            <a:ext cx="1152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0.85억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5184648" y="2971800"/>
            <a:ext cx="6318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화덕·오리·통닭 중심의 필수 설비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594360" y="3374136"/>
            <a:ext cx="10972800" cy="466344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438144"/>
            <a:ext cx="3118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축소형 화덕·로스팅 기물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3904488" y="3438144"/>
            <a:ext cx="1152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0.65억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5184648" y="3438144"/>
            <a:ext cx="6318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1대 메인 + 촬영 가능한 쇼케이스 구조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594360" y="3840480"/>
            <a:ext cx="10972800" cy="466344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904488"/>
            <a:ext cx="3118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야장·천막·방염·식재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3904488" y="3904488"/>
            <a:ext cx="1152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0.45억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5184648" y="3904488"/>
            <a:ext cx="6318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부분 개폐/고정 혼합, 풀스펙 제외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94360" y="4306824"/>
            <a:ext cx="10972800" cy="466344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370832"/>
            <a:ext cx="3118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가구·집기·식기·POS·사인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3904488" y="4370832"/>
            <a:ext cx="1152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0.45억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184648" y="4370832"/>
            <a:ext cx="6318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홀 45~55테이블 + 룸 일부 기준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94360" y="4773168"/>
            <a:ext cx="10972800" cy="466344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837176"/>
            <a:ext cx="3118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 마케팅·콘텐츠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3904488" y="4837176"/>
            <a:ext cx="1152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0.25억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5184648" y="4837176"/>
            <a:ext cx="6318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가림막·릴스·유튜브·인플루언서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594360" y="5239512"/>
            <a:ext cx="10972800" cy="466344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5303520"/>
            <a:ext cx="3118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초도재고·운영자금·예비비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3904488" y="5303520"/>
            <a:ext cx="1152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0.65억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5184648" y="5303520"/>
            <a:ext cx="6318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4~6주 현금 방어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594360" y="5705856"/>
            <a:ext cx="10972800" cy="466344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5769864"/>
            <a:ext cx="3118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합계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3904488" y="5769864"/>
            <a:ext cx="1152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5.00억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5184648" y="5769864"/>
            <a:ext cx="6318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초과 시 2단계 투자로 이월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731520" y="629107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원칙: “보이는 곳·매출 나는 곳·인허가 필수”에만 먼저 씁니다.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BUDGET GUARDRAILS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 예산에서 지킬 것과 버릴 것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SCOPE CONTROL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257800" cy="4343400"/>
          </a:xfrm>
          <a:prstGeom prst="roundRect">
            <a:avLst>
              <a:gd name="adj" fmla="val 1263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73152" cy="4343400"/>
          </a:xfrm>
          <a:prstGeom prst="rect">
            <a:avLst/>
          </a:prstGeom>
          <a:solidFill>
            <a:srgbClr val="75905B"/>
          </a:solidFill>
          <a:ln w="12700">
            <a:solidFill>
              <a:srgbClr val="75905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737360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590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반드시 지킬 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2057400"/>
            <a:ext cx="4965192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입장 시 보이는 화덕 장면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45~55테이블 이상 홀 수용력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법인 접대 가능한 룸 2~3개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급배기·소방·방염 등 인허가 필수 비용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오픈 후 4~6주 버틸 운영자금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네이버플레이스·예약·콘텐츠 채널 세팅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257800" cy="4343400"/>
          </a:xfrm>
          <a:prstGeom prst="roundRect">
            <a:avLst>
              <a:gd name="adj" fmla="val 1263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00200"/>
            <a:ext cx="73152" cy="4343400"/>
          </a:xfrm>
          <a:prstGeom prst="rect">
            <a:avLst/>
          </a:prstGeom>
          <a:solidFill>
            <a:srgbClr val="A5452F"/>
          </a:solidFill>
          <a:ln w="12700">
            <a:solidFill>
              <a:srgbClr val="A5452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737360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545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과감히 버릴 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965192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400평 전체 고급 인테리어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24시간 오픈 동시 운영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대형 전동 개폐 천막 풀스펙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6개 룸 전부 프리미엄 마감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과한 조경·장식·포토존 다중 설치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메뉴 SKU 과다 확장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REVENUE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 모델의 매출 목표는 월 3.6~4.8억이 현실적입니다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RIGHT-SIZED TARGET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6629400" cy="607423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664208"/>
            <a:ext cx="147218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2395728" y="1664208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보수적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041648" y="1664208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687568" y="1664208"/>
            <a:ext cx="160934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상향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31520" y="2207623"/>
            <a:ext cx="6629400" cy="607423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271631"/>
            <a:ext cx="147218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월매출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2395728" y="2271631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3.6억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041648" y="2271631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4.2억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687568" y="2271631"/>
            <a:ext cx="160934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4.8억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31520" y="2815046"/>
            <a:ext cx="6629400" cy="607423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879054"/>
            <a:ext cx="147218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일매출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2395728" y="2879054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1,200만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041648" y="2879054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1,400만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687568" y="2879054"/>
            <a:ext cx="160934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1,600만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31520" y="3422469"/>
            <a:ext cx="6629400" cy="607423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486477"/>
            <a:ext cx="147218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 단가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2395728" y="3486477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17만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041648" y="3486477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18만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87568" y="3486477"/>
            <a:ext cx="160934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19만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029891"/>
            <a:ext cx="6629400" cy="607423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4093899"/>
            <a:ext cx="147218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 판매 테이블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2395728" y="4093899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70~72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041648" y="4093899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78~80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687568" y="4093899"/>
            <a:ext cx="160934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84~86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31520" y="4637314"/>
            <a:ext cx="6629400" cy="607423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" y="4701322"/>
            <a:ext cx="147218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테이블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2395728" y="4701322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45~55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041648" y="4701322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50~55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5687568" y="4701322"/>
            <a:ext cx="160934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55~60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731520" y="5244737"/>
            <a:ext cx="6629400" cy="607423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5308745"/>
            <a:ext cx="147218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 회전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2395728" y="5308745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1.3~1.5회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041648" y="5308745"/>
            <a:ext cx="151790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1.5~1.6회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687568" y="5308745"/>
            <a:ext cx="1609344" cy="47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1.5~1.7회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7726680" y="169164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6680" y="1691640"/>
            <a:ext cx="73152" cy="114300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91272" y="1828800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매출 가정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91272" y="2148840"/>
            <a:ext cx="32278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6억 이상은 400평 전체 완성형 또는 강한 초기 바이럴이 붙었을 때의 상향 시나리오로 봐야 합니다.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726680" y="306324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26680" y="3063240"/>
            <a:ext cx="73152" cy="114300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91272" y="3200400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KPI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91272" y="3520440"/>
            <a:ext cx="32278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 판매 테이블 80개, 테이블 단가 18만원, 룸 예약률 50%를 1차 안정화 기준으로 잡습니다.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726680" y="443484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26680" y="4434840"/>
            <a:ext cx="73152" cy="114300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91272" y="4572000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 기준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891272" y="4892040"/>
            <a:ext cx="32278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월매출 4.5억 이상이 2개월 연속 유지되면 2단계 룸·심야·잔여공간 투자를 검토합니다.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P&amp;L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월매출 4.2억 기준 손익 구조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CASE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7132320" cy="533400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72768"/>
            <a:ext cx="183794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15768" y="1572768"/>
            <a:ext cx="9692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비율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813048" y="1572768"/>
            <a:ext cx="11978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금액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138928" y="1572768"/>
            <a:ext cx="26151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비고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2042160"/>
            <a:ext cx="7132320" cy="53340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06168"/>
            <a:ext cx="183794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매출액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715768" y="2106168"/>
            <a:ext cx="9692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813048" y="2106168"/>
            <a:ext cx="11978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4.20억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138928" y="2106168"/>
            <a:ext cx="26151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케이스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85800" y="2575560"/>
            <a:ext cx="7132320" cy="53340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639568"/>
            <a:ext cx="183794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식자재 원가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715768" y="2639568"/>
            <a:ext cx="9692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36%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813048" y="2639568"/>
            <a:ext cx="11978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1.51억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5138928" y="2639568"/>
            <a:ext cx="26151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오리·닭·주류 믹스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85800" y="3108960"/>
            <a:ext cx="7132320" cy="53340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172968"/>
            <a:ext cx="183794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인건비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2715768" y="3172968"/>
            <a:ext cx="9692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24%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3813048" y="3172968"/>
            <a:ext cx="11978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1.01억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5138928" y="3172968"/>
            <a:ext cx="26151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22~26명 운용 기준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85800" y="3642360"/>
            <a:ext cx="7132320" cy="53340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706368"/>
            <a:ext cx="183794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임대료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2715768" y="3706368"/>
            <a:ext cx="9692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2.4%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3813048" y="3706368"/>
            <a:ext cx="11978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0.10억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5138928" y="3706368"/>
            <a:ext cx="26151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월세 1,000만원 가정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85800" y="4175760"/>
            <a:ext cx="7132320" cy="53340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239768"/>
            <a:ext cx="183794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수도광열·관리비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2715768" y="4239768"/>
            <a:ext cx="9692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6%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3813048" y="4239768"/>
            <a:ext cx="11978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0.25억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138928" y="4239768"/>
            <a:ext cx="26151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화덕·냉난방 반영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685800" y="4709160"/>
            <a:ext cx="7132320" cy="53340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4773168"/>
            <a:ext cx="183794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마케팅·카드·소모품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2715768" y="4773168"/>
            <a:ext cx="9692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8%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3813048" y="4773168"/>
            <a:ext cx="11978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0.34억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5138928" y="4773168"/>
            <a:ext cx="26151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 초기 통제 필요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85800" y="5242560"/>
            <a:ext cx="7132320" cy="53340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306568"/>
            <a:ext cx="183794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유지보수·예비비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2715768" y="5306568"/>
            <a:ext cx="9692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4%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3813048" y="5306568"/>
            <a:ext cx="11978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0.17억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5138928" y="5306568"/>
            <a:ext cx="26151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배기·화덕·시설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85800" y="5775960"/>
            <a:ext cx="7132320" cy="53340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5839968"/>
            <a:ext cx="183794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영업이익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2715768" y="5839968"/>
            <a:ext cx="9692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19~20%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3813048" y="5839968"/>
            <a:ext cx="119786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0.82억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5138928" y="5839968"/>
            <a:ext cx="26151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안정화 이후 기준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8458200" y="1828800"/>
            <a:ext cx="2331720" cy="2331720"/>
          </a:xfrm>
          <a:prstGeom prst="arc">
            <a:avLst/>
          </a:prstGeom>
          <a:solidFill>
            <a:srgbClr val="C8A86A">
              <a:alpha val="92000"/>
            </a:srgbClr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41080" y="24871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10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영업이익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5110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 8,200만원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229600" y="46177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 회수 목표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10~14개월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7955280" y="548640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545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5~6개월 회수 문구는 삭제해야 합니다.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BEP &amp; CASHFLOW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손익분기와 현금 방어선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CONTROL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2B2118"/>
          </a:solidFill>
          <a:ln w="8890">
            <a:solidFill>
              <a:srgbClr val="5C4935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74650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BEP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13816" y="198424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2.7~3.0억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" y="2386584"/>
            <a:ext cx="21214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일매출 900~1,000만원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2B2118"/>
          </a:solidFill>
          <a:ln w="8890">
            <a:solidFill>
              <a:srgbClr val="5C4935">
                <a:alpha val="8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74650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안전권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465576" y="198424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3.6억 이상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65576" y="2386584"/>
            <a:ext cx="21214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운영자금 소진 방어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89320" y="16002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2B2118"/>
          </a:solidFill>
          <a:ln w="8890">
            <a:solidFill>
              <a:srgbClr val="5C4935">
                <a:alpha val="8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74650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목표권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117336" y="198424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4.2억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17336" y="2386584"/>
            <a:ext cx="21214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8천만 내외 이익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641080" y="16002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2B2118"/>
          </a:solidFill>
          <a:ln w="8890">
            <a:solidFill>
              <a:srgbClr val="5C4935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69096" y="174650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확장권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8769096" y="198424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4.5억+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69096" y="2386584"/>
            <a:ext cx="21214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 투자 검토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14400" y="3383280"/>
            <a:ext cx="10287000" cy="402336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344728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 후 기간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3172968" y="34472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목표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733288" y="3447288"/>
            <a:ext cx="5404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 포인트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14400" y="3785616"/>
            <a:ext cx="10287000" cy="402336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384962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1개월차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3172968" y="38496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2.5~3.0억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733288" y="3849624"/>
            <a:ext cx="5404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리뷰·콘텐츠·동선 안정화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914400" y="4187952"/>
            <a:ext cx="10287000" cy="402336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" y="425196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2개월차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3172968" y="42519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3.2~3.8억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5733288" y="4251960"/>
            <a:ext cx="5404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룸 예약·회식 수요 확보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14400" y="4590288"/>
            <a:ext cx="10287000" cy="402336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46542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3개월차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3172968" y="465429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4.0억 이상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5733288" y="4654296"/>
            <a:ext cx="5404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주말/디너 회전율 고정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914400" y="4992624"/>
            <a:ext cx="10287000" cy="402336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50566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4개월차 이후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3172968" y="50566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4.2억+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5733288" y="5056632"/>
            <a:ext cx="5404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 확장 여부 판단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22960" y="58521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운영자금은 예산 안에서 반드시 남겨야 합니다. 전액 공사비로 쓰면 오픈 직후 현금이 말라 실패합니다.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24시간이 아니라, 매출이 검증되는 시간부터 시작합니다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LEAN STAFFING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10835640" cy="521208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64208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78608" y="1664208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81728" y="1664208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10528" y="1664208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121408"/>
            <a:ext cx="10835640" cy="521208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85416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오픈·런치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2185416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10:00~18:00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1728" y="2185416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8~10명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10528" y="2185416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준비·런치·카페·초저녁 세팅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2642616"/>
            <a:ext cx="10835640" cy="521208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706624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디너·심야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78608" y="2706624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17:00~02:30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81728" y="2706624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12~14명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10528" y="2706624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디너 피크·주류·마감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163824"/>
            <a:ext cx="10835640" cy="521208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227832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 파트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78608" y="3227832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18:00~23:00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81728" y="3227832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4~8명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10528" y="3227832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금·토·예약 집중 보강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3685032"/>
            <a:ext cx="10835640" cy="521208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749040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78608" y="3749040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81728" y="3749040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점장 1 + 매니저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10528" y="3749040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발주·정산·서비스·위생 관리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461772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617720"/>
            <a:ext cx="73152" cy="109728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75488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총인원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" y="5074920"/>
            <a:ext cx="31363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정직원 18~22명 + 피크 파트 4~8명 기준으로 설계합니다. 24시간 50명 구조는 2단계 이후입니다.</a:t>
            </a:r>
            <a:endParaRPr lang="en-US" sz="990" dirty="0"/>
          </a:p>
        </p:txBody>
      </p:sp>
      <p:sp>
        <p:nvSpPr>
          <p:cNvPr id="36" name="Shape 34"/>
          <p:cNvSpPr/>
          <p:nvPr/>
        </p:nvSpPr>
        <p:spPr>
          <a:xfrm>
            <a:off x="4480560" y="461772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4617720"/>
            <a:ext cx="73152" cy="109728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475488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인건비 목표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45152" y="5074920"/>
            <a:ext cx="31363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9,000만~1.05억. 매출 4.2억 기준 24% 이내가 관리선입니다.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8138160" y="461772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4617720"/>
            <a:ext cx="73152" cy="109728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02752" y="475488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 조건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02752" y="5074920"/>
            <a:ext cx="29535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심야 매출이 시간당 직접비를 넘기면 03시, 05시, 07시 순차 확대합니다.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MENU ENGINEERING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메뉴는 화덕 오리 중심으로 줄이고, 세트 객단가를 올립니다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LOW SKU · HIGH AOV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10881360" cy="548640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1848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카테고리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304288" y="1618488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상품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779008" y="161848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가격대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7790688" y="1618488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85800" y="2103120"/>
            <a:ext cx="10881360" cy="54864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6712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시그니처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304288" y="2167128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화덕 오리구이 3종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5779008" y="216712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75,000~82,000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7790688" y="2167128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 이유·촬영 콘텐츠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85800" y="2651760"/>
            <a:ext cx="10881360" cy="54864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71576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세트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2304288" y="2715768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오리구이 + 전골 + 사이드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779008" y="271576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169,000~199,000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790688" y="2715768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4인 테이블 단가 확보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85800" y="3200400"/>
            <a:ext cx="10881360" cy="54864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26440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보조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2304288" y="3264408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옛날 통닭·닭 매운탕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5779008" y="326440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32,000~45,000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7790688" y="3264408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2차·심야·가성비 보완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85800" y="3749040"/>
            <a:ext cx="10881360" cy="54864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81304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룸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2304288" y="3813048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프리미엄 주류 페어링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5779008" y="38130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250,000~500,000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7790688" y="3813048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법인 접대 객단가 상승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85800" y="4297680"/>
            <a:ext cx="10881360" cy="54864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36168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카페/낮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2304288" y="4361688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커피·간편식·테이크아웃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5779008" y="436168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5,000~15,000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7790688" y="4361688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 시간 접점·대기 매출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868680" y="5257800"/>
            <a:ext cx="4937760" cy="731520"/>
          </a:xfrm>
          <a:prstGeom prst="roundRect">
            <a:avLst>
              <a:gd name="adj" fmla="val 7500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" y="5257800"/>
            <a:ext cx="73152" cy="731520"/>
          </a:xfrm>
          <a:prstGeom prst="rect">
            <a:avLst/>
          </a:prstGeom>
          <a:solidFill>
            <a:srgbClr val="A5452F"/>
          </a:solidFill>
          <a:ln w="12700">
            <a:solidFill>
              <a:srgbClr val="A5452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3272" y="5394960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A545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 기준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33272" y="5715000"/>
            <a:ext cx="46451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메뉴는 “화덕과 주류 매출에 직접 기여하지 않는 메뉴”부터 삭제합니다.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72200" y="5257800"/>
            <a:ext cx="4937760" cy="731520"/>
          </a:xfrm>
          <a:prstGeom prst="roundRect">
            <a:avLst>
              <a:gd name="adj" fmla="val 7500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5257800"/>
            <a:ext cx="73152" cy="731520"/>
          </a:xfrm>
          <a:prstGeom prst="rect">
            <a:avLst/>
          </a:prstGeom>
          <a:solidFill>
            <a:srgbClr val="75905B"/>
          </a:solidFill>
          <a:ln w="12700">
            <a:solidFill>
              <a:srgbClr val="75905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5394960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590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유지 기준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336792" y="5715000"/>
            <a:ext cx="46451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객단가 상승, 회전율 유지, 사진/영상 확산 중 하나에 기여하는 메뉴만 남깁니다.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MARKETING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광고비보다 오픈 전 콘텐츠 자산을 먼저 만듭니다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OPENING 60 DAYS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44200" cy="576072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55648"/>
            <a:ext cx="1472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95728" y="1755648"/>
            <a:ext cx="18836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07408" y="1755648"/>
            <a:ext cx="7004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실행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67712"/>
            <a:ext cx="10744200" cy="576072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331720"/>
            <a:ext cx="1472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프리오픈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331720"/>
            <a:ext cx="18836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D-45~D-15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07408" y="2331720"/>
            <a:ext cx="7004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공사 가림막 브랜딩, 화덕 제작 과정, 메뉴 테스트 릴스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843784"/>
            <a:ext cx="10744200" cy="576072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907792"/>
            <a:ext cx="1472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초청 테스트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95728" y="2907792"/>
            <a:ext cx="18836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D-14~D-3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07408" y="2907792"/>
            <a:ext cx="7004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지인·연예인·인플루언서·법인 담당자 초청, 리뷰 예약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419856"/>
            <a:ext cx="10744200" cy="576072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483864"/>
            <a:ext cx="1472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 2주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95728" y="3483864"/>
            <a:ext cx="18836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D-Day~D+14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07408" y="3483864"/>
            <a:ext cx="7004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네이버플레이스 리뷰 집중, 룸 예약 특전, 숏폼 집중 업로드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995928"/>
            <a:ext cx="10744200" cy="576072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059936"/>
            <a:ext cx="1472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95728" y="4059936"/>
            <a:ext cx="18836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D+15~D+60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07408" y="4059936"/>
            <a:ext cx="7004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법인 회식 세일즈, 프리미엄 주류 페어링, 시즌 야장 콘텐츠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4983480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983480"/>
            <a:ext cx="73152" cy="86868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512064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메시지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3272" y="5440680"/>
            <a:ext cx="304495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“청담에서 불 앞에 앉아 먹는 오리 야장” 한 문장으로 기억돼야 합니다.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4434840" y="4983480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4983480"/>
            <a:ext cx="73152" cy="86868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512064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9432" y="5440680"/>
            <a:ext cx="304495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화덕 회전 장면, 야장 조명, 룸 접대, 오픈 웨이팅을 반복 노출합니다.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001000" y="498348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01000" y="4983480"/>
            <a:ext cx="73152" cy="86868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65592" y="512064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 채널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65592" y="5440680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네이버예약·플레이스·캐치테이블·단체예약 문의를 오픈 전 세팅합니다.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PROPOSAL TO OWNER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건물주 제안도 “대규모 공사”보다 “안전한 단계 오픈”으로 설득합니다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LANDLORD VERSION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72768"/>
            <a:ext cx="73152" cy="1325880"/>
          </a:xfrm>
          <a:prstGeom prst="rect">
            <a:avLst/>
          </a:prstGeom>
          <a:solidFill>
            <a:srgbClr val="75905B"/>
          </a:solidFill>
          <a:ln w="12700">
            <a:solidFill>
              <a:srgbClr val="75905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7099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590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건물주에게 좋은 점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029968"/>
            <a:ext cx="313639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 1단계 오픈은 공사 리스크와 원상복구 부담을 줄입니다. 매출 검증 후 단계 확장하므로 건물 안정성도 높습니다.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572768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572768"/>
            <a:ext cx="73152" cy="1325880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7099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협조 요청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53712" y="2029968"/>
            <a:ext cx="313639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옥외영업 사용 동의, 화기·배기·가스 증설 협조, 렌트프리, 천막/방염 구조 사전검토 동의가 필요합니다.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572768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572768"/>
            <a:ext cx="73152" cy="1325880"/>
          </a:xfrm>
          <a:prstGeom prst="rect">
            <a:avLst/>
          </a:prstGeom>
          <a:solidFill>
            <a:srgbClr val="A5452F"/>
          </a:solidFill>
          <a:ln w="12700">
            <a:solidFill>
              <a:srgbClr val="A5452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7032" y="17099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A545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계약 조건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57032" y="2029968"/>
            <a:ext cx="313639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개폐천막·옥외영업·대형화기 인허가가 불가할 경우 계약 해제 또는 조건 변경 조항이 필요합니다.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3657600"/>
            <a:ext cx="10195560" cy="374904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3721608"/>
            <a:ext cx="3346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계약 전 필수 합의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3721608"/>
            <a:ext cx="6592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4032504"/>
            <a:ext cx="10195560" cy="374904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4096512"/>
            <a:ext cx="3346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가설/천막/외부 사용 동의서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44568" y="4096512"/>
            <a:ext cx="6592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컨셉과 인허가의 전제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4407408"/>
            <a:ext cx="10195560" cy="374904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4471416"/>
            <a:ext cx="3346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전기·도시가스·급배기 증설 협조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44568" y="4471416"/>
            <a:ext cx="6592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화덕 운영과 주방 생산성 확보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" y="4782312"/>
            <a:ext cx="10195560" cy="374904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4846320"/>
            <a:ext cx="3346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공사기간 렌트프리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44568" y="4846320"/>
            <a:ext cx="6592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 예산에서 현금 방어 필수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05840" y="5157216"/>
            <a:ext cx="10195560" cy="374904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" y="5221224"/>
            <a:ext cx="3346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소음·냄새·화재 관리 책임 범위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44568" y="5221224"/>
            <a:ext cx="6592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향후 민원과 원상복구 리스크 방어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PERMITS &amp; REGULATION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인허가는 5억 모델에서도 절대 줄이면 안 되는 비용입니다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CRITICAL PATH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10881360" cy="678180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64208"/>
            <a:ext cx="188366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61488" y="1664208"/>
            <a:ext cx="366674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계약 전 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56248" y="1664208"/>
            <a:ext cx="494690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5억형 대응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78380"/>
            <a:ext cx="10881360" cy="67818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42388"/>
            <a:ext cx="188366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대형 화덕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61488" y="2342388"/>
            <a:ext cx="366674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소방·가스·배기 용량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56248" y="2342388"/>
            <a:ext cx="494690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축소형 기물 + 자동소화 + 그리스덕트 우선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2956560"/>
            <a:ext cx="10881360" cy="67818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020568"/>
            <a:ext cx="188366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천막/야장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61488" y="3020568"/>
            <a:ext cx="366674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가설건축물·옥외영업 가능 여부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56248" y="3020568"/>
            <a:ext cx="494690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부분 개폐 또는 고정형 방염 구조로 대체안 준비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634740"/>
            <a:ext cx="10881360" cy="67818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698748"/>
            <a:ext cx="188366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다중이용업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61488" y="3698748"/>
            <a:ext cx="366674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소방 안전시설 신고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56248" y="3698748"/>
            <a:ext cx="494690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공사 전 소방기술사 검토 필수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4312920"/>
            <a:ext cx="10881360" cy="67818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376928"/>
            <a:ext cx="188366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소음·냄새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61488" y="4376928"/>
            <a:ext cx="366674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인근 민원 가능성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56248" y="4376928"/>
            <a:ext cx="494690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야장 개방 시간 제한과 배기 위치 설계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" y="4991100"/>
            <a:ext cx="10881360" cy="67818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5055108"/>
            <a:ext cx="188366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주차·발렛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61488" y="5055108"/>
            <a:ext cx="366674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청담 상권 진입 장벽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56248" y="5055108"/>
            <a:ext cx="4946904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발렛 동선과 대기 공간 선확보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6080760"/>
            <a:ext cx="10241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예산이 줄어도 인허가·소방·배기 비용은 줄이면 안 됩니다. 줄일 곳은 장식과 전체 마감입니다.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8주 오픈 로드맵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 BUT CONTROLLED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A5452F"/>
          </a:solidFill>
          <a:ln w="12700">
            <a:solidFill>
              <a:srgbClr val="A5452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184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1주차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2057400" y="1554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계약 전 검증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77640" y="156362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건축사·소방기술사·시공 견적·건물주 동의서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07592" y="1901952"/>
            <a:ext cx="0" cy="256032"/>
          </a:xfrm>
          <a:prstGeom prst="line">
            <a:avLst/>
          </a:prstGeom>
          <a:noFill/>
          <a:ln w="12700">
            <a:solidFill>
              <a:srgbClr val="5C49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221992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A5452F"/>
          </a:solidFill>
          <a:ln w="12700">
            <a:solidFill>
              <a:srgbClr val="A5452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3042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2주차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057400" y="22402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실시설계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224942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 구역 확정, VE, 기물 발주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07592" y="2587752"/>
            <a:ext cx="0" cy="256032"/>
          </a:xfrm>
          <a:prstGeom prst="line">
            <a:avLst/>
          </a:prstGeom>
          <a:noFill/>
          <a:ln w="12700">
            <a:solidFill>
              <a:srgbClr val="5C49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907792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00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3~5주차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2057400" y="2926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77640" y="293522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철거·전기·가스·급배기·내장 동시 진행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07592" y="3273552"/>
            <a:ext cx="0" cy="256032"/>
          </a:xfrm>
          <a:prstGeom prst="line">
            <a:avLst/>
          </a:prstGeom>
          <a:noFill/>
          <a:ln w="12700">
            <a:solidFill>
              <a:srgbClr val="5C49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593592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758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6주차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2057400" y="36118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기물 설치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77640" y="362102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화덕·주방·POS·사인·가구 반입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07592" y="3959352"/>
            <a:ext cx="0" cy="256032"/>
          </a:xfrm>
          <a:prstGeom prst="line">
            <a:avLst/>
          </a:prstGeom>
          <a:noFill/>
          <a:ln w="12700">
            <a:solidFill>
              <a:srgbClr val="5C49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279392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3616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7주차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2057400" y="4297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교육·시운전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977640" y="430682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메뉴 테스트, 서비스 동선, 원가표 확정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07592" y="4645152"/>
            <a:ext cx="0" cy="256032"/>
          </a:xfrm>
          <a:prstGeom prst="line">
            <a:avLst/>
          </a:prstGeom>
          <a:noFill/>
          <a:ln w="12700">
            <a:solidFill>
              <a:srgbClr val="5C49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965192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0474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8주차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2057400" y="4983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프리오픈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977640" y="499262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초청 테스트 후 그랜드 오픈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5989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주의: 8주 오픈은 인허가가 사전에 정리될 때만 가능합니다. 불확실하면 오픈 목표보다 계약 조건을 먼저 잡아야 합니다.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2 CRITERIA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 투자는 감이 아니라 숫자로 결정합니다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EXPANSION GATE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0972800" cy="609600"/>
          </a:xfrm>
          <a:prstGeom prst="rect">
            <a:avLst/>
          </a:prstGeom>
          <a:solidFill>
            <a:srgbClr val="2B2118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64208"/>
            <a:ext cx="270662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 항목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3538728" y="1664208"/>
            <a:ext cx="55412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 판단 기준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9208008" y="1664208"/>
            <a:ext cx="23408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예상 추가 투자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40080" y="2209800"/>
            <a:ext cx="10972800" cy="60960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273808"/>
            <a:ext cx="270662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2층 룸 전체 고급화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538728" y="2273808"/>
            <a:ext cx="55412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룸 예약률 60%+ / 룸 매출 월 8,000만+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9208008" y="2273808"/>
            <a:ext cx="23408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1.0~1.5억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40080" y="2819400"/>
            <a:ext cx="10972800" cy="60960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883408"/>
            <a:ext cx="270662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전동 개폐 천막 풀스펙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3538728" y="2883408"/>
            <a:ext cx="55412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우천·한파에도 야장 매출 유지 확인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9208008" y="2883408"/>
            <a:ext cx="23408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0.5~1.0억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10972800" cy="60960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493008"/>
            <a:ext cx="270662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24시간 운영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3538728" y="3493008"/>
            <a:ext cx="55412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02~07시 직접이익 4주 연속 흑자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9208008" y="3493008"/>
            <a:ext cx="23408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인력·마케팅 별도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40080" y="4038600"/>
            <a:ext cx="10972800" cy="609600"/>
          </a:xfrm>
          <a:prstGeom prst="rect">
            <a:avLst/>
          </a:prstGeom>
          <a:solidFill>
            <a:srgbClr val="1D160F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4102608"/>
            <a:ext cx="270662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잔여 홀 확장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538728" y="4102608"/>
            <a:ext cx="55412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주말 웨이팅과 평일 디너 만석 반복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9208008" y="4102608"/>
            <a:ext cx="23408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1.0억+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40080" y="4648200"/>
            <a:ext cx="10972800" cy="609600"/>
          </a:xfrm>
          <a:prstGeom prst="rect">
            <a:avLst/>
          </a:prstGeom>
          <a:solidFill>
            <a:srgbClr val="211912"/>
          </a:solidFill>
          <a:ln w="5080">
            <a:solidFill>
              <a:srgbClr val="5C493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4712208"/>
            <a:ext cx="270662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화덕 2호기/기물 증설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3538728" y="4712208"/>
            <a:ext cx="55412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피크타임 조리 병목이 매출 손실로 확인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9208008" y="4712208"/>
            <a:ext cx="2340864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0.5억+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22960" y="5532120"/>
            <a:ext cx="10515600" cy="621792"/>
          </a:xfrm>
          <a:prstGeom prst="roundRect">
            <a:avLst>
              <a:gd name="adj" fmla="val 8824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5532120"/>
            <a:ext cx="73152" cy="621792"/>
          </a:xfrm>
          <a:prstGeom prst="rect">
            <a:avLst/>
          </a:prstGeom>
          <a:solidFill>
            <a:srgbClr val="C8A86A"/>
          </a:solidFill>
          <a:ln w="12700">
            <a:solidFill>
              <a:srgbClr val="C8A86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5669280"/>
            <a:ext cx="10222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 원칙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87552" y="5989320"/>
            <a:ext cx="10222992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월매출 4.5억 이상 2개월 연속, 영업이익률 17% 이상, 현금잔고 1개월 운영비 이상일 때만 2단계 확장합니다.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8A8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설계 결론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55680" cy="0"/>
          </a:xfrm>
          <a:prstGeom prst="line">
            <a:avLst/>
          </a:prstGeom>
          <a:noFill/>
          <a:ln w="10160">
            <a:solidFill>
              <a:srgbClr val="5C4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20624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2B2118"/>
          </a:solidFill>
          <a:ln w="12700">
            <a:solidFill>
              <a:srgbClr val="5C493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45168" y="484632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 / NO-GO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212080" cy="1325880"/>
          </a:xfrm>
          <a:prstGeom prst="roundRect">
            <a:avLst>
              <a:gd name="adj" fmla="val 4138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73152" cy="1325880"/>
          </a:xfrm>
          <a:prstGeom prst="rect">
            <a:avLst/>
          </a:prstGeom>
          <a:solidFill>
            <a:srgbClr val="75905B"/>
          </a:solidFill>
          <a:ln w="12700">
            <a:solidFill>
              <a:srgbClr val="75905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3736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590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 조건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2057400"/>
            <a:ext cx="491947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5억으로 계약하려면 1단계 구역만 오픈하고, 나머지 공간은 미시공·창고·추후 확장으로 남겨야 합니다. 화덕·배기·소방·운영자금은 절대 줄이지 않습니다.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166360" cy="1325880"/>
          </a:xfrm>
          <a:prstGeom prst="roundRect">
            <a:avLst>
              <a:gd name="adj" fmla="val 4138"/>
            </a:avLst>
          </a:prstGeom>
          <a:solidFill>
            <a:srgbClr val="211912"/>
          </a:solidFill>
          <a:ln w="7620">
            <a:solidFill>
              <a:srgbClr val="5C493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00200"/>
            <a:ext cx="73152" cy="1325880"/>
          </a:xfrm>
          <a:prstGeom prst="rect">
            <a:avLst/>
          </a:prstGeom>
          <a:solidFill>
            <a:srgbClr val="A5452F"/>
          </a:solidFill>
          <a:ln w="12700">
            <a:solidFill>
              <a:srgbClr val="A5452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737360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545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NO-GO 조건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737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5EBD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건물주가 천막·옥외영업·배기·가스 증설에 협조하지 않거나, 시공 견적이 5억을 초과하는데 범위 축소가 불가능하면 계약하면 안 됩니다.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95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 버전의 한 줄 전략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“작게 열되, 청담에서 가장 강한 화덕 장면은 반드시 만든다.”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C2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액션: ① 5억 기준 시공 VE 견적 2곳 확보 ② 건축·소방 사전검토 ③ 1단계 평면도 확정 ④ 건물주 조건부 합의서 작성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E7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청담 오리닭 5억 예산 재설계안</dc:title>
  <dc:subject>청담 오리닭 5억 예산 재설계안</dc:subject>
  <dc:creator>OpenAI</dc:creator>
  <cp:lastModifiedBy>OpenAI</cp:lastModifiedBy>
  <cp:revision>1</cp:revision>
  <dcterms:created xsi:type="dcterms:W3CDTF">2026-07-17T03:58:52Z</dcterms:created>
  <dcterms:modified xsi:type="dcterms:W3CDTF">2026-07-17T03:58:52Z</dcterms:modified>
</cp:coreProperties>
</file>